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CONCEPT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世界を「ひとつの生命システム」として見る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F0F4F8"/>
                </a:solidFill>
              </a:defRPr>
            </a:pPr>
            <a:r>
              <a:t>人間の身体には、外部環境が変化しても、</a:t>
            </a:r>
            <a:br/>
            <a:r>
              <a:t>その変化を感知し、調整しながら安定状態へ戻ろうとする</a:t>
            </a:r>
            <a:br/>
            <a:r>
              <a:t>「恒常性（Homeostasis）」があります。</a:t>
            </a:r>
            <a:br/>
            <a:br/>
            <a:r>
              <a:t>そこで本作品では、この考え方を</a:t>
            </a:r>
            <a:br/>
            <a:r>
              <a:t>国家と国家の関係、そして世界全体の安全保障へ応用しました。</a:t>
            </a:r>
            <a:br/>
            <a:br/>
            <a:r>
              <a:t>国家による警戒・防衛・対抗措置は、</a:t>
            </a:r>
            <a:br/>
            <a:r>
              <a:t>生命体でいえば外部の脅威から身体を守る「免疫反応」に似ています。</a:t>
            </a:r>
            <a:br/>
            <a:br/>
            <a:r>
              <a:t>しかし、免疫反応が強すぎれば自らの身体を傷つけるように、</a:t>
            </a:r>
            <a:br/>
            <a:r>
              <a:t>国家の過剰な警戒や防衛も、相手国には新たな脅威として観測され、</a:t>
            </a:r>
            <a:br/>
            <a:r>
              <a:t>さらなる警戒や対抗措置を生み出します。</a:t>
            </a:r>
            <a:br/>
            <a:br/>
            <a:r>
              <a:t>一国だけが安全であればいいのではない。</a:t>
            </a:r>
            <a:br/>
            <a:r>
              <a:t>国家と国家の関係そのものが、</a:t>
            </a:r>
            <a:br/>
            <a:r>
              <a:t>変化や対立を受けても破壊されず、</a:t>
            </a:r>
            <a:br/>
            <a:r>
              <a:t>再び安定へ戻ることができるのか。</a:t>
            </a:r>
            <a:br/>
            <a:br/>
            <a:r>
              <a:t>本作品は、世界の安全保障を</a:t>
            </a:r>
            <a:br/>
            <a:r>
              <a:t>「勝敗」ではなく「恒常性」から捉え直す試みです。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0080"/>
                </a:solidFill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結末を決めない。AI Agentに判断させる。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F0F4F8"/>
                </a:solidFill>
              </a:defRPr>
            </a:pPr>
            <a:r>
              <a:t>本作品では、AIに</a:t>
            </a:r>
            <a:br/>
            <a:r>
              <a:t>「平和を選べ」「戦争を避けろ」といった</a:t>
            </a:r>
            <a:br/>
            <a:r>
              <a:t>望ましい結末を命令していません。</a:t>
            </a:r>
            <a:br/>
            <a:r>
              <a:t>設定するのは、「条件と環境」だけです。</a:t>
            </a:r>
            <a:br/>
            <a:br/>
            <a:r>
              <a:t>国家利益、リーダーの性格、過去の記憶、認識した脅威。</a:t>
            </a:r>
            <a:br/>
            <a:r>
              <a:t>そして、国際法・Hotline・外交といった制度。</a:t>
            </a:r>
            <a:br/>
            <a:r>
              <a:t>その世界の中で、独立した国家AI Agentが状況を認識し、</a:t>
            </a:r>
            <a:br/>
            <a:r>
              <a:t>懸念を持ち、自ら次の行動を判断します。</a:t>
            </a:r>
            <a:br/>
            <a:br/>
            <a:r>
              <a:t>結末を脚本化せず、</a:t>
            </a:r>
            <a:br/>
            <a:r>
              <a:t>AI Agent同士の相互作用から</a:t>
            </a:r>
            <a:br/>
            <a:r>
              <a:t>どのような行動パターンが生まれるのかを観測する。</a:t>
            </a:r>
            <a:br/>
            <a:br/>
            <a:r>
              <a:t>リーダーが変われば、世界の運命は変わるのか？</a:t>
            </a:r>
            <a:br/>
            <a:r>
              <a:t>性格も利害も異なる国家が存在する世界で、</a:t>
            </a:r>
            <a:br/>
            <a:r>
              <a:t>法・通信・外交という制度は、</a:t>
            </a:r>
            <a:br/>
            <a:r>
              <a:t>国家の暴走や誤認をどこまで吸収し、</a:t>
            </a:r>
            <a:br/>
            <a:r>
              <a:t>世界を再び平衡状態へ戻すことができるのか。</a:t>
            </a:r>
            <a:br/>
            <a:br/>
            <a:r>
              <a:t>対立そのものをなくすのではなく、</a:t>
            </a:r>
            <a:br/>
            <a:r>
              <a:t>「対立が起きても破壊へ向かわず、</a:t>
            </a:r>
            <a:br/>
            <a:r>
              <a:t>関係を回復できるのか？」</a:t>
            </a:r>
            <a:br/>
            <a:br/>
            <a:r>
              <a:t>これが、HOMEOSTASIS SECURITYの問いです。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0080"/>
                </a:solidFill>
              </a:defRPr>
            </a:pPr>
            <a:r>
              <a:t>FUTURE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地球の恒常性から、宇宙規模の統合安全保障へ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F0F4F8"/>
                </a:solidFill>
              </a:defRPr>
            </a:pPr>
            <a:r>
              <a:t>これからの新しい時代。</a:t>
            </a:r>
            <a:br/>
            <a:r>
              <a:t>人が身体性と他者とのつながりを取り戻していくように、</a:t>
            </a:r>
            <a:br/>
            <a:r>
              <a:t>国家もまた、孤立ではなく</a:t>
            </a:r>
            <a:br/>
            <a:r>
              <a:t>対話と相互理解によってつながっていく。</a:t>
            </a:r>
            <a:br/>
            <a:br/>
            <a:r>
              <a:t>守るべきものを、一国だけの安全から、</a:t>
            </a:r>
            <a:br/>
            <a:r>
              <a:t>国家と国家の「関係そのものの健全性」へ広げていく。</a:t>
            </a:r>
            <a:br/>
            <a:r>
              <a:t>そして、その考え方を国家間だけで終わらせず、</a:t>
            </a:r>
            <a:br/>
            <a:r>
              <a:t>地球環境、社会、経済、情報、テクノロジーなど、</a:t>
            </a:r>
            <a:br/>
            <a:r>
              <a:t>互いに影響し合うシステム全体へ。</a:t>
            </a:r>
            <a:br/>
            <a:br/>
            <a:r>
              <a:t>さらに人類の活動領域が宇宙へ広がれば、</a:t>
            </a:r>
            <a:br/>
            <a:r>
              <a:t>安全保障の対象も、国境を越えて拡張していきます。</a:t>
            </a:r>
            <a:br/>
            <a:br/>
            <a:r>
              <a:t>対立を完全になくす世界ではなく、</a:t>
            </a:r>
            <a:br/>
            <a:r>
              <a:t>変化や衝突が起きても、</a:t>
            </a:r>
            <a:br/>
            <a:r>
              <a:t>壊れず、調整し、再び平衡へ戻れる世界。</a:t>
            </a:r>
            <a:br/>
            <a:br/>
            <a:r>
              <a:t>HOMEOSTASIS SECURITYが目指す先は、</a:t>
            </a:r>
            <a:br/>
            <a:r>
              <a:t>「地球の恒常性から、</a:t>
            </a:r>
            <a:br/>
            <a:r>
              <a:t>宇宙規模の統合安全保障へ。」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B8FD4-CA48-44E7-A608-32472FA0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EXPERIMENT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6EE1B-FFEE-4FF0-ABCE-DAF92BC2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16条件比較実験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670CE-FA20-436B-8636-841534B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9062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A〜Pの16条件　全36run　各8TURN　独立AI Agentと中立Evaluator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2171700"/>
                <a:gridCol w="2171700"/>
                <a:gridCol w="2171700"/>
                <a:gridCol w="2171700"/>
              </a:tblGrid>
              <a:tr h="6000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国家タイプの組合せ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国際法ON・Hotline ON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国際法OFF・Hotline ON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国際法ON・Hotline OFF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国際法OFF・Hotline OFF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慎重外交型×慎重外交型</a:t>
                      </a:r>
                    </a:p>
                  </a:txBody>
                  <a:tcPr marL="91440" marR="91440" marT="45720" marB="45720" anchor="ctr">
                    <a:solidFill>
                      <a:srgbClr val="101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H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強硬型×強硬型</a:t>
                      </a:r>
                    </a:p>
                  </a:txBody>
                  <a:tcPr marL="91440" marR="91440" marT="45720" marB="45720" anchor="ctr">
                    <a:solidFill>
                      <a:srgbClr val="101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F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G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E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強硬型×慎重外交型</a:t>
                      </a:r>
                    </a:p>
                  </a:txBody>
                  <a:tcPr marL="91440" marR="91440" marT="45720" marB="45720" anchor="ctr">
                    <a:solidFill>
                      <a:srgbClr val="101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K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J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L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慎重外交型×強硬型</a:t>
                      </a:r>
                    </a:p>
                  </a:txBody>
                  <a:tcPr marL="91440" marR="91440" marT="45720" marB="45720" anchor="ctr">
                    <a:solidFill>
                      <a:srgbClr val="101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O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P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FF028-02FF-4F07-B47F-136F1C8F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EBBC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AEBBCF"/>
                </a:solidFill>
                <a:latin typeface="Calibri"/>
                <a:ea typeface="Calibri"/>
                <a:cs typeface="Calibri"/>
              </a:rPr>
              <a:t>国家タイプ × 国際法 × Hotline の組合せを固定し、各条件で8TURNの相互作用を観測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DD261-EE11-4281-8424-DE21960C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721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Evaluatorは各TURNの脅威と反応を中立的に評価</a:t>
            </a:r>
          </a:p>
        </p:txBody>
      </p:sp>
    </p:spTree>
    <p:extLst>
      <p:ext uri="{BB962C8B-B14F-4D97-AF65-F5344CB8AC3E}">
        <p14:creationId xmlns:p14="http://schemas.microsoft.com/office/powerpoint/2010/main" val="3492750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2100C-FE12-47A1-A1CE-E3B97D6D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OBSERVED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9CD74-D0D2-46F4-A263-3CA36B39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観測された結果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F8895-BB6B-4CC3-BF10-1F4C05C7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10706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E条件　強硬型×強硬型　国際法OFF　Hotline 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63BA4-13FE-430A-82E5-8742929F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87.5%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D2F7C-DC21-4CBE-A3F9-660B81FE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71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EBBC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AEBBCF"/>
                </a:solidFill>
                <a:latin typeface="Calibri"/>
                <a:ea typeface="Calibri"/>
                <a:cs typeface="Calibri"/>
              </a:rPr>
              <a:t>過剰反応率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95877-BEAC-4724-8DC7-7190328B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37.188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F8176-55B2-41E9-9BF9-55A98F8C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EBBC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AEBBCF"/>
                </a:solidFill>
                <a:latin typeface="Calibri"/>
                <a:ea typeface="Calibri"/>
                <a:cs typeface="Calibri"/>
              </a:rPr>
              <a:t>平均エスカレーション圧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D6F2D-0037-4B4A-9A11-92B7C4D3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097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68.375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BE65F-C13D-43D6-B5E2-F731506C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EBBC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AEBBCF"/>
                </a:solidFill>
                <a:latin typeface="Calibri"/>
                <a:ea typeface="Calibri"/>
                <a:cs typeface="Calibri"/>
              </a:rPr>
              <a:t>平均回復力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C43C-147E-4A6C-BFC8-9338FC2E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86125"/>
            <a:ext cx="1009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強硬型比較では、国際法・Hotlineがある条件で</a:t>
            </a:r>
          </a:p>
          <a:p xmlns:a="http://schemas.openxmlformats.org/drawingml/2006/main">
            <a:pPr algn="ctr">
              <a:defRPr sz="1650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エスカレーション圧の低下と回復力の上昇が観測された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B87C9C-3DE7-423C-9049-087313B5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243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慎重外交型でも過少反応を観測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4352F-92E8-419E-A235-B6E9CD31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05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D条件　16.667%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1CF89-F072-4C84-8564-D3C67B9F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1020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H条件　12.5%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2768C9-BBF6-4196-B598-7CA77BB4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95825"/>
            <a:ext cx="5000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因果関係ではなく、</a:t>
            </a:r>
          </a:p>
          <a:p xmlns:a="http://schemas.openxmlformats.org/drawingml/2006/main">
            <a:pPr algn="ctr">
              <a:defRPr sz="1875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この36runで観測された関連</a:t>
            </a:r>
          </a:p>
        </p:txBody>
      </p:sp>
    </p:spTree>
    <p:extLst>
      <p:ext uri="{BB962C8B-B14F-4D97-AF65-F5344CB8AC3E}">
        <p14:creationId xmlns:p14="http://schemas.microsoft.com/office/powerpoint/2010/main" val="20331975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F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FA86B-A395-41DB-9F74-7726DBFF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RESEARCH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EECF1-71ED-4925-A65A-DD24AC4E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研究としての読み方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057F3-B237-4FBE-8065-6D8D1681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335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脅威に対して反応が強すぎても弱すぎても、恒常性を損なう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199A0-98A8-410B-96D8-BFD11266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E5FF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E5FF"/>
                </a:solidFill>
                <a:latin typeface="Calibri"/>
                <a:ea typeface="Calibri"/>
                <a:cs typeface="Calibri"/>
              </a:rPr>
              <a:t>国際法やHotlineが、エスカレーション抑制と回復力に関連した可能性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CBABB-83D4-4E7E-AE27-84D6E4A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008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F0080"/>
                </a:solidFill>
                <a:latin typeface="Calibri"/>
                <a:ea typeface="Calibri"/>
                <a:cs typeface="Calibri"/>
              </a:rPr>
              <a:t>慎重さも常に適応的とは限らない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1428750" y="3619500"/>
          <a:ext xmlns:a="http://schemas.openxmlformats.org/drawingml/2006/main" cx="93345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4667250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run構成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全36run。条件ごとに2〜5runで不均等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seed記録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26/36run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00E5FF"/>
                          </a:solidFill>
                          <a:latin typeface="Calibri"/>
                          <a:ea typeface="Calibri"/>
                          <a:cs typeface="Calibri"/>
                        </a:rPr>
                        <a:t>結論の範囲</a:t>
                      </a:r>
                    </a:p>
                  </a:txBody>
                  <a:tcPr marL="91440" marR="91440" marT="45720" marB="45720" anchor="ctr">
                    <a:solidFill>
                      <a:srgbClr val="1230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F0F4F8"/>
                          </a:solidFill>
                          <a:latin typeface="Calibri"/>
                          <a:ea typeface="Calibri"/>
                          <a:cs typeface="Calibri"/>
                        </a:rPr>
                        <a:t>探索的観測。一般性や因果関係を断定できない</a:t>
                      </a:r>
                    </a:p>
                  </a:txBody>
                  <a:tcPr marL="91440" marR="91440" marT="45720" marB="45720" anchor="ctr">
                    <a:solidFill>
                      <a:srgbClr val="0D172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D9B27-7E4A-40F1-B9BA-ACED1A3E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768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0F4F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0F4F8"/>
                </a:solidFill>
                <a:latin typeface="Calibri"/>
                <a:ea typeface="Calibri"/>
                <a:cs typeface="Calibri"/>
              </a:rPr>
              <a:t>結果は仮説形成の手がかりとして読む</a:t>
            </a:r>
          </a:p>
        </p:txBody>
      </p:sp>
    </p:spTree>
    <p:extLst>
      <p:ext uri="{BB962C8B-B14F-4D97-AF65-F5344CB8AC3E}">
        <p14:creationId xmlns:p14="http://schemas.microsoft.com/office/powerpoint/2010/main" val="174003150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